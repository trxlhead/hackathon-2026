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14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44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[≈15 сек] Здравствуйте! Мы сделали сервис «Куда уходят деньги». Он берёт обычную банковскую выписку и заранее говорит владельцу малого бизнеса: хватит ли денег на ближайшие 30, 90 или 180 дней — и когда, на какую сумму и с какой вероятностью их может не хватить.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[≈30 сек] Проблема знакома каждому предпринимателю: бизнес прибыльный, но через две недели нужно заплатить зарплату, аренду и налоги, а крупный клиент оплату задержал. Финансиста нет, всё считается вручную по выпискам. Наш сервис работает на этого человека: он загружает выписку, а в ответ получает категории расходов, прогноз остатка по дням, понятное предупреждение — когда, на какую сумму и с какой вероятностью денег не хватит — и список мер, что с этим делать.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сек, показываем прототип] Показываю на примере компании. Загружаю выписку — сервис сам разбирает операции. На экране выбора сразу видно последние списания, динамику остатка и прогноз на 30 дней. Открываю статистику: график ожидаемого остатка с коридором, цветной блок с вердиктом — когда может не хватить денег, на какую сумму и с какой вероятностью. Ниже — меры, которые снижают риск, и сценарий «что если клиент заплатит позже». ВАЖНО: заранее выберите на демо компанию, у которой разрыв виден.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[≈25 сек] Источники данных. Основа — банковская выписка: из неё мы берём историю, категории и регулярные платежи. Всё, чего в выписке ещё нет, добавляется отдельно: счета и договоры с графиком платежей, предоплатой и отсрочкой, налоговый календарь — например, единый платёж до 28-го числа, график кредита. Предприниматель может и просто вписать событие вручную: «клиент заплатит триста тысяч двадцатого». Всё это сразу попадает в прогноз, а источник каждой строки виден. Честно скажу: прямые API банка и 1С мы не подключали — пока данные из этих систем загружаются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сек] Подход к прогнозу. Мы не называем одну цифру, потому что будущее неопределённо. Сервис тысячу раз «проигрывает» ближайший период: известные платежи ставит на их даты, обычные доходы и расходы берёт из реальных дней последних месяцев и слегка сдвигает сроки и суммы. Получается линия типичного остатка, коридор, в который попадают восемь сценариев из десяти, и вероятность разрыва — доля прогонов, где денег не хватило. Качество проверяем планом-фактом: строим прогноз на месяц назад и смотрим, сколько дней реальный остаток лежал внутри коридора; ориентир — около восьми из десяти. [Если у вас есть измеренное число на данных кейса — назовите его здесь.]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[≈20 сек] Архитектура простая и прозрачная. Данные из файлов проходят подготовку: очистку, категоризацию по правилам и поиск регулярных платежей. Всё хранится в SQLite. Модуль прогноза считает сценарии, меры и план-факт, а веб-интерфейс на Flask показывает график и предупреждения. Доступ закрыт логином и паролем, пароли хранятся только в виде хэша, а в журнал попадают действия, но не суммы и назначения платежей.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[≈20 сек] Из задач со звёздочкой реализованы: учёт договоров, счетов, налогов и кредитов; план-факт с отметкой опоздавших платежей и автоматическим пересчётом; сценарии «что если» и меры, эффект которых мы проверяем той же симуляцией. В планах — прямые интеграции с банком, 1С, ЭДО, кассами и маркетплейсами, сравнение нескольких моделей прогноза, обновление без полного пересчёта и автотесты. Спасибо, готовы к вопросам! [Остаётся 2 минуты на вопросы.]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F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F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16050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ОСЕНЬ 2026 · БАНК ЦЕНТР-ИНВЕСТ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93570"/>
            <a:ext cx="6409690" cy="178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Куда уходят деньги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882390"/>
            <a:ext cx="57556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прогноза кассовых разрывов для малого бизнеса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872990"/>
            <a:ext cx="5494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Загрузите выписку и узнайте, хватит ли денег на 30, 90 или 180 дней вперёд.</a:t>
            </a:r>
            <a:endParaRPr lang="en-US" sz="1600" dirty="0"/>
          </a:p>
        </p:txBody>
      </p:sp>
      <p:pic>
        <p:nvPicPr>
          <p:cNvPr id="6" name="Image 0" descr="Схема: остаток на счёте падает ниже нуля, вокруг прогноза коридор вероятности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1778000"/>
            <a:ext cx="4826000" cy="304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0000" y="37846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₽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85100" y="37846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8330" y="4381500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кассовый разрыв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Прибыль не защищает от кассового разрыва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2180590"/>
            <a:ext cx="5143500" cy="345948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8560" y="2540000"/>
            <a:ext cx="45574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1F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8560" y="2923540"/>
            <a:ext cx="45574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малого бизнеса без финансиста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5268" y="3685540"/>
            <a:ext cx="4473092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две недели зарплата, аренда и налоги</a:t>
            </a:r>
            <a:endParaRPr lang="en-US" sz="1600" dirty="0"/>
          </a:p>
          <a:p>
            <a:pPr marL="177292" indent="-177292" algn="l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клиент может задержать оплату</a:t>
            </a:r>
            <a:endParaRPr lang="en-US" sz="1600" dirty="0"/>
          </a:p>
          <a:p>
            <a:pPr marL="177292" indent="-177292" algn="l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приходится считать вручную по выпискам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2174240"/>
            <a:ext cx="5156200" cy="3472180"/>
          </a:xfrm>
          <a:prstGeom prst="rect">
            <a:avLst/>
          </a:prstGeom>
          <a:solidFill>
            <a:srgbClr val="0F2B20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2529840"/>
            <a:ext cx="45783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8600" y="2913380"/>
            <a:ext cx="4800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Загрузил выписку и получил ответ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06619" y="3370580"/>
            <a:ext cx="4542711" cy="194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5981" indent="-225981" algn="l">
              <a:lnSpc>
                <a:spcPts val="216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Операции разложены по категориям</a:t>
            </a:r>
            <a:endParaRPr lang="en-US" sz="1600" dirty="0"/>
          </a:p>
          <a:p>
            <a:pPr marL="225981" indent="-225981" algn="l">
              <a:lnSpc>
                <a:spcPts val="216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остатка с коридором неопределённости</a:t>
            </a:r>
            <a:endParaRPr lang="en-US" sz="1600" dirty="0"/>
          </a:p>
          <a:p>
            <a:pPr marL="225981" indent="-225981" algn="l">
              <a:lnSpc>
                <a:spcPts val="216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когда, на сколько и с какой вероятностью не хватит</a:t>
            </a:r>
            <a:endParaRPr lang="en-US" sz="1600" dirty="0"/>
          </a:p>
          <a:p>
            <a:pPr marL="225981" indent="-225981" algn="l">
              <a:lnSpc>
                <a:spcPts val="216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— меры с проверенным эффектом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Демонстрация прототипа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677670"/>
            <a:ext cx="2481580" cy="222758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из банка или 1С. Шаблон файла скачивается на сайте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6630" y="1677670"/>
            <a:ext cx="2481580" cy="222758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по компании и прогноз на 30 и более дней прямо на карточке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4110" y="1677670"/>
            <a:ext cx="2481580" cy="222758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остатка с коридором, дата, сумма и вероятность разрыва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05240" y="1671320"/>
            <a:ext cx="2473960" cy="2240280"/>
          </a:xfrm>
          <a:prstGeom prst="rect">
            <a:avLst/>
          </a:prstGeom>
          <a:solidFill>
            <a:srgbClr val="0F2B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33840" y="192532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B7CBB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33840" y="245872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33840" y="2890520"/>
            <a:ext cx="207726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против разрыва и сценарии «что если»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2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CCBF372-2563-417C-B775-E6B7F6BFC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4300000"/>
            <a:ext cx="1850000" cy="1850000"/>
          </a:xfrm>
          <a:prstGeom prst="rect">
            <a:avLst/>
          </a:prstGeom>
        </p:spPr>
      </p:pic>
      <p:sp>
        <p:nvSpPr>
          <p:cNvPr id="40" name="Подпись QR заголовок"/>
          <p:cNvSpPr txBox="1"/>
          <p:nvPr/>
        </p:nvSpPr>
        <p:spPr>
          <a:xfrm>
            <a:off x="2950000" y="4750000"/>
            <a:ext cx="5000000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ru-RU" sz="2000" b="1" dirty="0">
                <a:solidFill>
                  <a:srgbClr val="0F2B20"/>
                </a:solidFill>
                <a:latin typeface="Cambria"/>
                <a:cs typeface="Cambria"/>
              </a:rPr>
              <a:t>Репозиторий проекта</a:t>
            </a:r>
          </a:p>
        </p:txBody>
      </p:sp>
      <p:sp>
        <p:nvSpPr>
          <p:cNvPr id="41" name="Подпись QR ссылка"/>
          <p:cNvSpPr txBox="1"/>
          <p:nvPr/>
        </p:nvSpPr>
        <p:spPr>
          <a:xfrm>
            <a:off x="2950000" y="5200000"/>
            <a:ext cx="50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ru-RU" sz="1400" b="0" dirty="0">
                <a:solidFill>
                  <a:srgbClr val="485D54"/>
                </a:solidFill>
                <a:latin typeface="Arial"/>
                <a:cs typeface="Arial"/>
              </a:rPr>
              <a:t>github.com/TRXLHEAD/Hackathon-2026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Источники данных и их роль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0"/>
          <a:ext cx="10556239" cy="2664460"/>
        </p:xfrm>
        <a:graphic>
          <a:graphicData uri="http://schemas.openxmlformats.org/drawingml/2006/table">
            <a:tbl>
              <a:tblPr/>
              <a:tblGrid>
                <a:gridCol w="2744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Источник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приходит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используется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Банковская выписка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Дата, сумма, ИНН, назначение, остаток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Категории, регулярные платежи, база прогноза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Счета и договоры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Файл по шаблону: график, предоплата, отсрочка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Будущие поступления и списания по датам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Налоги и кредиты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Налоговый календарь (ЕНП до 28-го), график кредита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Обязательные платежи заранее в прогнозе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Ручной ввод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«Клиент заплатит 300 000 ₽ 20-го»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Сразу в прогнозе, источник виден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99941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1С, ЭДО, онлайн-кассы и маркетплейсы подключаются выгрузкой файла с пометкой источника. Прямые интеграции — в планах.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Прогноз: тысяча сценариев вместо одной цифры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23439"/>
            <a:ext cx="57936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1F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МОНТЕ-КАРЛО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53238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532382"/>
            <a:ext cx="5250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платежи и события плана ставим на их даты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98958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2989582"/>
            <a:ext cx="52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Остальное берём из реальных дней последних месяцев, сдвигая сроки и суммы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68173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3681732"/>
            <a:ext cx="52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1 000 прогонов: линия — типичный остаток, коридор — 80% сценариев, разрыв — доля прогонов ниже нуля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91709" y="2123439"/>
            <a:ext cx="4687411" cy="2997200"/>
          </a:xfrm>
          <a:prstGeom prst="rect">
            <a:avLst/>
          </a:prstGeom>
          <a:solidFill>
            <a:srgbClr val="0F2B20"/>
          </a:solidFill>
          <a:ln/>
        </p:spPr>
      </p:sp>
      <p:sp>
        <p:nvSpPr>
          <p:cNvPr id="11" name="Text 9"/>
          <p:cNvSpPr/>
          <p:nvPr/>
        </p:nvSpPr>
        <p:spPr>
          <a:xfrm>
            <a:off x="6996509" y="2428239"/>
            <a:ext cx="42001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ПРОВЕРЯЕМ КАЧЕСТВО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6509" y="2786382"/>
            <a:ext cx="420014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7CBB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8 из 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996509" y="3522982"/>
            <a:ext cx="42001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дней факт должен попадать в коридор. Прогноз «на месяц назад» сравниваем с тем, что случилось на самом деле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6509" y="4370071"/>
            <a:ext cx="420014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 не пришёл в срок — сервис отмечает его и пересчитывает риск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Архитектура прототипа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738313"/>
            <a:ext cx="1866900" cy="166624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0760" y="1945323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0760" y="2306002"/>
            <a:ext cx="155448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Выписка CSV, файлы по шаблону, ручной ввод</a:t>
            </a:r>
            <a:endParaRPr lang="en-US" sz="13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2400" y="2482534"/>
            <a:ext cx="292100" cy="17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90850" y="1626871"/>
            <a:ext cx="1866900" cy="1889125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72460" y="1833882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172460" y="2194561"/>
            <a:ext cx="1554480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Очистка, категоризация по правилам, поиск регулярных платежей</a:t>
            </a:r>
            <a:endParaRPr lang="en-US" sz="13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4100" y="2482534"/>
            <a:ext cx="2921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62550" y="1738313"/>
            <a:ext cx="1866900" cy="166624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44160" y="1945323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344160" y="2306002"/>
            <a:ext cx="155448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операции, события плана, пользователи, журнал</a:t>
            </a:r>
            <a:endParaRPr lang="en-US" sz="13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5800" y="2482534"/>
            <a:ext cx="292100" cy="177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334250" y="1849757"/>
            <a:ext cx="1866900" cy="1443355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15860" y="2056764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515860" y="2417446"/>
            <a:ext cx="1554480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Монте-Карло, сценарии, меры, план-факт</a:t>
            </a:r>
            <a:endParaRPr lang="en-US" sz="1300" dirty="0"/>
          </a:p>
        </p:txBody>
      </p:sp>
      <p:pic>
        <p:nvPicPr>
          <p:cNvPr id="18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07500" y="2482534"/>
            <a:ext cx="292100" cy="1778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99600" y="1853564"/>
            <a:ext cx="1879600" cy="1435735"/>
          </a:xfrm>
          <a:prstGeom prst="rect">
            <a:avLst/>
          </a:prstGeom>
          <a:solidFill>
            <a:srgbClr val="0F2B20"/>
          </a:solidFill>
          <a:ln/>
        </p:spPr>
      </p:sp>
      <p:sp>
        <p:nvSpPr>
          <p:cNvPr id="20" name="Text 14"/>
          <p:cNvSpPr/>
          <p:nvPr/>
        </p:nvSpPr>
        <p:spPr>
          <a:xfrm>
            <a:off x="9677400" y="2056764"/>
            <a:ext cx="15748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9677400" y="2417446"/>
            <a:ext cx="1574800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 и веб-страница: график и предупреждения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2800" y="3827146"/>
            <a:ext cx="10566400" cy="835660"/>
          </a:xfrm>
          <a:prstGeom prst="rect">
            <a:avLst/>
          </a:prstGeom>
          <a:solidFill>
            <a:srgbClr val="E4EBDD"/>
          </a:solidFill>
          <a:ln/>
        </p:spPr>
      </p:sp>
      <p:pic>
        <p:nvPicPr>
          <p:cNvPr id="23" name="Image 4" descr="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1400" y="4105275"/>
            <a:ext cx="279400" cy="279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73200" y="4004946"/>
            <a:ext cx="91567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</a:t>
            </a: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вход по логину и паролю, пароли хранятся хэшем, в журнал пишутся действия, а не суммы и назначения платежей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Задачи со звёздочкой и планы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474471"/>
            <a:ext cx="5415598" cy="287274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2360" y="1732282"/>
            <a:ext cx="49946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1F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1300" dirty="0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2360" y="2090421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7960" y="2090421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Договоры, счета, налоги, кредиты: файлом и вручную</a:t>
            </a:r>
            <a:endParaRPr lang="en-US" sz="1400" dirty="0"/>
          </a:p>
        </p:txBody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2360" y="26797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7960" y="2679700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План-факт, отметка опоздавших платежей, пересчёт</a:t>
            </a:r>
            <a:endParaRPr lang="en-US" sz="1400" dirty="0"/>
          </a:p>
        </p:txBody>
      </p:sp>
      <p:pic>
        <p:nvPicPr>
          <p:cNvPr id="9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2360" y="32689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57960" y="3268982"/>
            <a:ext cx="431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«что если»: клиент, выручка, расходы</a:t>
            </a:r>
            <a:endParaRPr lang="en-US" sz="1400" dirty="0"/>
          </a:p>
        </p:txBody>
      </p:sp>
      <p:pic>
        <p:nvPicPr>
          <p:cNvPr id="11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2360" y="3627121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57960" y="3627121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против разрыва, проверенные той же симуляцией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444298" y="1468121"/>
            <a:ext cx="4934903" cy="2885440"/>
          </a:xfrm>
          <a:prstGeom prst="rect">
            <a:avLst/>
          </a:prstGeom>
          <a:solidFill>
            <a:srgbClr val="0F2B20"/>
          </a:solidFill>
          <a:ln/>
        </p:spPr>
      </p:sp>
      <p:sp>
        <p:nvSpPr>
          <p:cNvPr id="14" name="Text 8"/>
          <p:cNvSpPr/>
          <p:nvPr/>
        </p:nvSpPr>
        <p:spPr>
          <a:xfrm>
            <a:off x="6723697" y="1722121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23697" y="2080261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API: банк, 1С, ЭДО, кассы, маркетплейсы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723697" y="2438400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 и точность по отраслям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723697" y="2796539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прогноза без полного пересчёта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723697" y="3154682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Автотесты ключевой логики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8827" y="5156201"/>
            <a:ext cx="4995863" cy="548640"/>
          </a:xfrm>
          <a:prstGeom prst="rect">
            <a:avLst/>
          </a:prstGeom>
          <a:solidFill>
            <a:srgbClr val="0F2B2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Готовы ответить на вопросы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Команда проекта</a:t>
            </a:r>
            <a:endParaRPr lang="en-US" sz="3600" dirty="0"/>
          </a:p>
        </p:txBody>
      </p:sp>
      <p:sp>
        <p:nvSpPr>
          <p:cNvPr id="10" name="Карточка Каверин"/>
          <p:cNvSpPr/>
          <p:nvPr/>
        </p:nvSpPr>
        <p:spPr>
          <a:xfrm>
            <a:off x="819150" y="2350000"/>
            <a:ext cx="2481580" cy="250000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1" name="Аватар Каверин"/>
          <p:cNvSpPr/>
          <p:nvPr/>
        </p:nvSpPr>
        <p:spPr>
          <a:xfrm>
            <a:off x="1051560" y="2650000"/>
            <a:ext cx="760000" cy="760000"/>
          </a:xfrm>
          <a:prstGeom prst="rect">
            <a:avLst/>
          </a:prstGeom>
          <a:solidFill>
            <a:srgbClr val="1F5C3E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Cambria"/>
              </a:rPr>
              <a:t>АК</a:t>
            </a:r>
          </a:p>
        </p:txBody>
      </p:sp>
      <p:sp>
        <p:nvSpPr>
          <p:cNvPr id="12" name="Имя Каверин"/>
          <p:cNvSpPr txBox="1"/>
          <p:nvPr/>
        </p:nvSpPr>
        <p:spPr>
          <a:xfrm>
            <a:off x="1051560" y="375000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</a:t>
            </a:r>
          </a:p>
        </p:txBody>
      </p:sp>
      <p:sp>
        <p:nvSpPr>
          <p:cNvPr id="13" name="Фамилия Каверин"/>
          <p:cNvSpPr txBox="1"/>
          <p:nvPr/>
        </p:nvSpPr>
        <p:spPr>
          <a:xfrm>
            <a:off x="1051560" y="413000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ru-RU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Каверин</a:t>
            </a:r>
          </a:p>
        </p:txBody>
      </p:sp>
      <p:sp>
        <p:nvSpPr>
          <p:cNvPr id="14" name="Карточка Плеханов"/>
          <p:cNvSpPr/>
          <p:nvPr/>
        </p:nvSpPr>
        <p:spPr>
          <a:xfrm>
            <a:off x="3516630" y="2350000"/>
            <a:ext cx="2481580" cy="250000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5" name="Аватар Плеханов"/>
          <p:cNvSpPr/>
          <p:nvPr/>
        </p:nvSpPr>
        <p:spPr>
          <a:xfrm>
            <a:off x="3749040" y="2650000"/>
            <a:ext cx="760000" cy="760000"/>
          </a:xfrm>
          <a:prstGeom prst="rect">
            <a:avLst/>
          </a:prstGeom>
          <a:solidFill>
            <a:srgbClr val="1F5C3E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Cambria"/>
              </a:rPr>
              <a:t>ДП</a:t>
            </a:r>
          </a:p>
        </p:txBody>
      </p:sp>
      <p:sp>
        <p:nvSpPr>
          <p:cNvPr id="16" name="Имя Плеханов"/>
          <p:cNvSpPr txBox="1"/>
          <p:nvPr/>
        </p:nvSpPr>
        <p:spPr>
          <a:xfrm>
            <a:off x="3749040" y="375000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Даниил</a:t>
            </a:r>
          </a:p>
        </p:txBody>
      </p:sp>
      <p:sp>
        <p:nvSpPr>
          <p:cNvPr id="17" name="Фамилия Плеханов"/>
          <p:cNvSpPr txBox="1"/>
          <p:nvPr/>
        </p:nvSpPr>
        <p:spPr>
          <a:xfrm>
            <a:off x="3749040" y="413000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ru-RU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Плеханов</a:t>
            </a:r>
          </a:p>
        </p:txBody>
      </p:sp>
      <p:sp>
        <p:nvSpPr>
          <p:cNvPr id="18" name="Карточка Педченко"/>
          <p:cNvSpPr/>
          <p:nvPr/>
        </p:nvSpPr>
        <p:spPr>
          <a:xfrm>
            <a:off x="6214110" y="2350000"/>
            <a:ext cx="2481580" cy="250000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19" name="Аватар Педченко"/>
          <p:cNvSpPr/>
          <p:nvPr/>
        </p:nvSpPr>
        <p:spPr>
          <a:xfrm>
            <a:off x="6446520" y="2650000"/>
            <a:ext cx="760000" cy="760000"/>
          </a:xfrm>
          <a:prstGeom prst="rect">
            <a:avLst/>
          </a:prstGeom>
          <a:solidFill>
            <a:srgbClr val="1F5C3E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Cambria"/>
              </a:rPr>
              <a:t>РП</a:t>
            </a:r>
          </a:p>
        </p:txBody>
      </p:sp>
      <p:sp>
        <p:nvSpPr>
          <p:cNvPr id="20" name="Имя Педченко"/>
          <p:cNvSpPr txBox="1"/>
          <p:nvPr/>
        </p:nvSpPr>
        <p:spPr>
          <a:xfrm>
            <a:off x="6446520" y="375000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Родион</a:t>
            </a:r>
          </a:p>
        </p:txBody>
      </p:sp>
      <p:sp>
        <p:nvSpPr>
          <p:cNvPr id="21" name="Фамилия Педченко"/>
          <p:cNvSpPr txBox="1"/>
          <p:nvPr/>
        </p:nvSpPr>
        <p:spPr>
          <a:xfrm>
            <a:off x="6446520" y="413000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ru-RU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Педченко</a:t>
            </a:r>
          </a:p>
        </p:txBody>
      </p:sp>
      <p:sp>
        <p:nvSpPr>
          <p:cNvPr id="22" name="Карточка Лапинский"/>
          <p:cNvSpPr/>
          <p:nvPr/>
        </p:nvSpPr>
        <p:spPr>
          <a:xfrm>
            <a:off x="8905240" y="2350000"/>
            <a:ext cx="2481580" cy="2500000"/>
          </a:xfrm>
          <a:prstGeom prst="rect">
            <a:avLst/>
          </a:prstGeom>
          <a:solidFill>
            <a:srgbClr val="F4F6F4"/>
          </a:solidFill>
          <a:ln w="9525">
            <a:solidFill>
              <a:srgbClr val="C9D1CB"/>
            </a:solidFill>
            <a:prstDash val="solid"/>
          </a:ln>
        </p:spPr>
      </p:sp>
      <p:sp>
        <p:nvSpPr>
          <p:cNvPr id="23" name="Аватар Лапинский"/>
          <p:cNvSpPr/>
          <p:nvPr/>
        </p:nvSpPr>
        <p:spPr>
          <a:xfrm>
            <a:off x="9137650" y="2650000"/>
            <a:ext cx="760000" cy="760000"/>
          </a:xfrm>
          <a:prstGeom prst="rect">
            <a:avLst/>
          </a:prstGeom>
          <a:solidFill>
            <a:srgbClr val="1F5C3E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Cambria"/>
              </a:rPr>
              <a:t>АЛ</a:t>
            </a:r>
          </a:p>
        </p:txBody>
      </p:sp>
      <p:sp>
        <p:nvSpPr>
          <p:cNvPr id="24" name="Имя Лапинский"/>
          <p:cNvSpPr txBox="1"/>
          <p:nvPr/>
        </p:nvSpPr>
        <p:spPr>
          <a:xfrm>
            <a:off x="9137650" y="375000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Артемий</a:t>
            </a:r>
          </a:p>
        </p:txBody>
      </p:sp>
      <p:sp>
        <p:nvSpPr>
          <p:cNvPr id="25" name="Фамилия Лапинский"/>
          <p:cNvSpPr txBox="1"/>
          <p:nvPr/>
        </p:nvSpPr>
        <p:spPr>
          <a:xfrm>
            <a:off x="9137650" y="413000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ru-RU" sz="2200" b="1" dirty="0">
                <a:solidFill>
                  <a:srgbClr val="1F5C3E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Лапинский</a:t>
            </a:r>
          </a:p>
        </p:txBody>
      </p:sp>
      <p:sp>
        <p:nvSpPr>
          <p:cNvPr id="40" name="Text 18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уда уходят деньги — сервис прогноза кассовых разрывов">
  <a:themeElements>
    <a:clrScheme name="Куда уходят деньги — сервис прогноза кассовых разрывов">
      <a:dk1>
        <a:srgbClr val="0F2B20"/>
      </a:dk1>
      <a:lt1>
        <a:srgbClr val="F3F4EF"/>
      </a:lt1>
      <a:dk2>
        <a:srgbClr val="485D54"/>
      </a:dk2>
      <a:lt2>
        <a:srgbClr val="DCE0DA"/>
      </a:lt2>
      <a:accent1>
        <a:srgbClr val="C8F23A"/>
      </a:accent1>
      <a:accent2>
        <a:srgbClr val="137A35"/>
      </a:accent2>
      <a:accent3>
        <a:srgbClr val="54645A"/>
      </a:accent3>
      <a:accent4>
        <a:srgbClr val="B7CBBF"/>
      </a:accent4>
      <a:accent5>
        <a:srgbClr val="D9E6DE"/>
      </a:accent5>
      <a:accent6>
        <a:srgbClr val="9AA0A6"/>
      </a:accent6>
      <a:hlink>
        <a:srgbClr val="0563C1"/>
      </a:hlink>
      <a:folHlink>
        <a:srgbClr val="954F72"/>
      </a:folHlink>
    </a:clrScheme>
    <a:fontScheme name="Куда уходят деньги — сервис прогноза кассовых разрывов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1184</Words>
  <Application>Microsoft Office PowerPoint</Application>
  <PresentationFormat>Широкоэкранный</PresentationFormat>
  <Paragraphs>109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Куда уходят деньги — сервис прогноза кассовых разрывов</vt:lpstr>
      <vt:lpstr>Куда уходят деньги</vt:lpstr>
      <vt:lpstr>Прибыль не защищает от кассового разрыва</vt:lpstr>
      <vt:lpstr>Демонстрация прототипа</vt:lpstr>
      <vt:lpstr>Источники данных и их роль</vt:lpstr>
      <vt:lpstr>Прогноз: тысяча сценариев вместо одной цифры</vt:lpstr>
      <vt:lpstr>Архитектура прототипа</vt:lpstr>
      <vt:lpstr>Задачи со звёздочкой и планы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Куда уходят деньги — сервис прогноза кассовых разрывов</dc:title>
  <dc:subject/>
  <dc:creator/>
  <cp:lastModifiedBy>ka060408@mail.ru</cp:lastModifiedBy>
  <cp:revision>4</cp:revision>
  <dcterms:created xsi:type="dcterms:W3CDTF">2026-10-25T07:37:11Z</dcterms:created>
  <dcterms:modified xsi:type="dcterms:W3CDTF">2026-10-25T08:51:56Z</dcterms:modified>
</cp:coreProperties>
</file>