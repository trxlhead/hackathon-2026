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[≈15 сек] Здравствуйте! Мы сделали сервис «Куда уходят деньги». Он берёт обычную банковскую выписку и заранее говорит владельцу малого бизнеса: хватит ли денег на ближайшие 30, 90 или 180 дней — и когда, на какую сумму и с какой вероятностью их может не хватить.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[≈30 сек] Проблема знакома каждому предпринимателю: бизнес прибыльный, но через две недели нужно заплатить зарплату, аренду и налоги, а крупный клиент оплату задержал. Финансиста нет, всё считается вручную по выпискам. Наш сервис работает на этого человека: он загружает выписку, а в ответ получает категории расходов, прогноз остатка по дням, понятное предупреждение — когда, на какую сумму и с какой вероятностью денег не хватит — и список мер, что с этим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[≈35 сек, показываем прототип] Показываю на примере компании. Загружаю выписку — сервис сам разбирает операции. На экране выбора сразу видно последние списания, динамику остатка и прогноз на 30 дней. Открываю статистику: график ожидаемого остатка с коридором, цветной блок с вердиктом — когда может не хватить денег, на какую сумму и с какой вероятностью. Ниже — меры, которые снижают риск, и сценарий «что если клиент заплатит позже». ВАЖНО: заранее выберите на демо компанию, у которой разрыв виден.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[≈25 сек] Источники данных. Основа — банковская выписка: из неё мы берём историю, категории и регулярные платежи. Всё, чего в выписке ещё нет, добавляется отдельно: счета и договоры с графиком платежей, предоплатой и отсрочкой, налоговый календарь — например, единый платёж до 28-го числа, график кредита. Предприниматель может и просто вписать событие вручную: «клиент заплатит триста тысяч двадцатого». Всё это сразу попадает в прогноз, а источник каждой строки виден. Честно скажу: прямые API банка и 1С мы не подключали — пока данные из этих систем загружаются файлом.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[≈35 сек] Подход к прогнозу. Мы не называем одну цифру, потому что будущее неопределённо. Сервис тысячу раз «проигрывает» ближайший период: известные платежи ставит на их даты, обычные доходы и расходы берёт из реальных дней последних месяцев и слегка сдвигает сроки и суммы. Получается линия типичного остатка, коридор, в который попадают восемь сценариев из десяти, и вероятность разрыва — доля прогонов, где денег не хватило. Качество проверяем планом-фактом: строим прогноз на месяц назад и смотрим, сколько дней реальный остаток лежал внутри коридора; ориентир — около восьми из десяти. [Если у вас есть измеренное число на данных кейса — назовите его здесь.]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[≈20 сек] Архитектура простая и прозрачная. Данные из файлов проходят подготовку: очистку, категоризацию по правилам и поиск регулярных платежей. Всё хранится в SQLite. Модуль прогноза считает сценарии, меры и план-факт, а веб-интерфейс на Flask показывает график и предупреждения. Доступ закрыт логином и паролем, пароли хранятся только в виде хэша, а в журнал попадают действия, но не суммы и назначения платежей.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[≈20 сек] Из задач со звёздочкой реализованы: учёт договоров, счетов, налогов и кредитов; план-факт с отметкой опоздавших платежей и автоматическим пересчётом; сценарии «что если» и меры, эффект которых мы проверяем той же симуляцией. В планах — прямые интеграции с банком, 1С, ЭДО, кассами и маркетплейсами, сравнение нескольких моделей прогноза, обновление без полного пересчёта и автотесты. Спасибо, готовы к вопросам! [Остаётся 2 минуты на вопросы.]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16050"/>
            <a:ext cx="5886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C8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ОСЕНЬ 2026 · БАНК ЦЕНТР-ИНВЕСТ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93570"/>
            <a:ext cx="6409690" cy="178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3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Куда уходят деньги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3882390"/>
            <a:ext cx="57556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прогноза кассовых разрывов для малого бизнеса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872990"/>
            <a:ext cx="5494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Загрузите выписку и узнайте, хватит ли денег на 30, 90 или 180 дней вперёд.</a:t>
            </a:r>
            <a:endParaRPr lang="en-US" sz="1600" dirty="0"/>
          </a:p>
        </p:txBody>
      </p:sp>
      <p:pic>
        <p:nvPicPr>
          <p:cNvPr id="6" name="Image 0" descr="Схема: остаток на счёте падает ниже нуля, вокруг прогноза коридор вероятности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0000" y="1778000"/>
            <a:ext cx="4826000" cy="304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0000" y="3784600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₽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85100" y="3784600"/>
            <a:ext cx="939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98330" y="4381500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кассовый разрыв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Прибыль не защищает от кассового разрыва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2180590"/>
            <a:ext cx="5143500" cy="3459480"/>
          </a:xfrm>
          <a:prstGeom prst="roundRect">
            <a:avLst>
              <a:gd name="adj" fmla="val 4222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8560" y="2540000"/>
            <a:ext cx="45574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37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78560" y="2923540"/>
            <a:ext cx="45574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малого бизнеса без финансиста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55268" y="3685540"/>
            <a:ext cx="4473092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две недели зарплата, аренда и налоги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клиент может задержать оплату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приходится считать вручную по выпискам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23000" y="2174240"/>
            <a:ext cx="5156200" cy="3472180"/>
          </a:xfrm>
          <a:prstGeom prst="roundRect">
            <a:avLst>
              <a:gd name="adj" fmla="val 4389"/>
            </a:avLst>
          </a:prstGeom>
          <a:solidFill>
            <a:srgbClr val="0F2B20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2529840"/>
            <a:ext cx="45783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C8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78600" y="2913380"/>
            <a:ext cx="4800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Загрузил выписку и получил ответ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06619" y="3370580"/>
            <a:ext cx="4542711" cy="1945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5981" indent="-225981">
              <a:lnSpc>
                <a:spcPts val="21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Операции разложены по категориям</a:t>
            </a:r>
            <a:endParaRPr lang="en-US" sz="1600" dirty="0"/>
          </a:p>
          <a:p>
            <a:pPr algn="l" marL="225981" indent="-225981">
              <a:lnSpc>
                <a:spcPts val="21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остатка с коридором неопределённости</a:t>
            </a:r>
            <a:endParaRPr lang="en-US" sz="1600" dirty="0"/>
          </a:p>
          <a:p>
            <a:pPr algn="l" marL="225981" indent="-225981">
              <a:lnSpc>
                <a:spcPts val="21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Предупреждение: когда, на сколько и с какой вероятностью не хватит</a:t>
            </a:r>
            <a:endParaRPr lang="en-US" sz="1600" dirty="0"/>
          </a:p>
          <a:p>
            <a:pPr algn="l" marL="225981" indent="-225981">
              <a:lnSpc>
                <a:spcPts val="216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— меры с проверенным эффектом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Демонстрация прототипа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677670"/>
            <a:ext cx="2481580" cy="2227580"/>
          </a:xfrm>
          <a:prstGeom prst="roundRect">
            <a:avLst>
              <a:gd name="adj" fmla="val 6556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93548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37A3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51560" y="246888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900680"/>
            <a:ext cx="207726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из банка или 1С. Шаблон файла скачивается на сайте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16630" y="1677670"/>
            <a:ext cx="2481580" cy="2227580"/>
          </a:xfrm>
          <a:prstGeom prst="roundRect">
            <a:avLst>
              <a:gd name="adj" fmla="val 6556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93548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37A3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49040" y="246888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2900680"/>
            <a:ext cx="207726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Сводка по компании и прогноз на 30 и более дней прямо на карточке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4110" y="1677670"/>
            <a:ext cx="2481580" cy="2227580"/>
          </a:xfrm>
          <a:prstGeom prst="roundRect">
            <a:avLst>
              <a:gd name="adj" fmla="val 6556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3548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37A3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900680"/>
            <a:ext cx="207726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остатка с коридором, дата, сумма и вероятность разрыва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05240" y="1671320"/>
            <a:ext cx="2473960" cy="2240280"/>
          </a:xfrm>
          <a:prstGeom prst="roundRect">
            <a:avLst>
              <a:gd name="adj" fmla="val 6803"/>
            </a:avLst>
          </a:prstGeom>
          <a:solidFill>
            <a:srgbClr val="0F2B20"/>
          </a:solidFill>
          <a:ln/>
        </p:spPr>
      </p:sp>
      <p:sp>
        <p:nvSpPr>
          <p:cNvPr id="16" name="Text 14"/>
          <p:cNvSpPr/>
          <p:nvPr/>
        </p:nvSpPr>
        <p:spPr>
          <a:xfrm>
            <a:off x="9133840" y="1925320"/>
            <a:ext cx="207726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F2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133840" y="2458720"/>
            <a:ext cx="20772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33840" y="2890520"/>
            <a:ext cx="207726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Меры против разрыва и сценарии «что если»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267200"/>
            <a:ext cx="4098131" cy="492760"/>
          </a:xfrm>
          <a:prstGeom prst="roundRect">
            <a:avLst>
              <a:gd name="adj" fmla="val 50000"/>
            </a:avLst>
          </a:prstGeom>
          <a:solidFill>
            <a:srgbClr val="C8F2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Переключаемся на живой прототип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1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Источники данных и их роль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0680"/>
          <a:ext cx="10556240" cy="2664460"/>
        </p:xfrm>
        <a:graphic>
          <a:graphicData uri="http://schemas.openxmlformats.org/drawingml/2006/table">
            <a:tbl>
              <a:tblPr/>
              <a:tblGrid>
                <a:gridCol w="2744622"/>
                <a:gridCol w="4011371"/>
                <a:gridCol w="3800246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Источник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приходит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используется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DD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Банковская выписка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Дата, сумма, ИНН, назначение, остаток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Категории, регулярные платежи, база прогноза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Счета и договоры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Файл по шаблону: график, предоплата, отсрочка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Будущие поступления и списания по датам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Налоги и кредиты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Налоговый календарь (ЕНП до 28-го), график кредита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Обязательные платежи заранее в прогнозе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Ручной ввод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«Клиент заплатит 300 000 ₽ 20-го»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Сразу в прогнозе, источник виден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99941"/>
            <a:ext cx="98107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1С, ЭДО, онлайн-кассы и маркетплейсы подключаются выгрузкой файла с пометкой источника. Прямые интеграции — в планах.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Прогноз: тысяча сценариев вместо одной цифры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123439"/>
            <a:ext cx="57936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37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МОНТЕ-КАРЛО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532382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37A3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0000" y="2532382"/>
            <a:ext cx="5250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платежи и события плана ставим на их даты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989582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37A3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0000" y="2989582"/>
            <a:ext cx="525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Остальное берём из реальных дней последних месяцев, сдвигая сроки и суммы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681732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37A3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70000" y="3681732"/>
            <a:ext cx="525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1 000 прогонов: линия — типичный остаток, коридор — 80% сценариев, разрыв — доля прогонов ниже нуля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91709" y="2123439"/>
            <a:ext cx="4687411" cy="2997200"/>
          </a:xfrm>
          <a:prstGeom prst="roundRect">
            <a:avLst>
              <a:gd name="adj" fmla="val 5085"/>
            </a:avLst>
          </a:prstGeom>
          <a:solidFill>
            <a:srgbClr val="0F2B20"/>
          </a:solidFill>
          <a:ln/>
        </p:spPr>
      </p:sp>
      <p:sp>
        <p:nvSpPr>
          <p:cNvPr id="11" name="Text 9"/>
          <p:cNvSpPr/>
          <p:nvPr/>
        </p:nvSpPr>
        <p:spPr>
          <a:xfrm>
            <a:off x="6996509" y="2428239"/>
            <a:ext cx="42001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C8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ПРОВЕРЯЕМ КАЧЕСТВО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6509" y="2786382"/>
            <a:ext cx="420014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8F2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8 из 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996509" y="3522982"/>
            <a:ext cx="420014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дней факт должен попадать в коридор. Прогноз «на месяц назад» сравниваем с тем, что случилось на самом деле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6509" y="4370071"/>
            <a:ext cx="420014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B7C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Платёж не пришёл в срок — сервис отмечает его и пересчитывает риск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Архитектура прототипа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738313"/>
            <a:ext cx="1866900" cy="1666240"/>
          </a:xfrm>
          <a:prstGeom prst="roundRect">
            <a:avLst>
              <a:gd name="adj" fmla="val 7241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0760" y="1945323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00760" y="2306002"/>
            <a:ext cx="1554480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Выписка CSV, файлы по шаблону, ручной ввод</a:t>
            </a:r>
            <a:endParaRPr lang="en-US" sz="13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92400" y="2482534"/>
            <a:ext cx="292100" cy="17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90850" y="1626871"/>
            <a:ext cx="1866900" cy="1889125"/>
          </a:xfrm>
          <a:prstGeom prst="roundRect">
            <a:avLst>
              <a:gd name="adj" fmla="val 6463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72460" y="1833882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172460" y="2194561"/>
            <a:ext cx="1554480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Очистка, категоризация по правилам, поиск регулярных платежей</a:t>
            </a:r>
            <a:endParaRPr lang="en-US" sz="13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64100" y="2482534"/>
            <a:ext cx="292100" cy="177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62550" y="1738313"/>
            <a:ext cx="1866900" cy="1666240"/>
          </a:xfrm>
          <a:prstGeom prst="roundRect">
            <a:avLst>
              <a:gd name="adj" fmla="val 7241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44160" y="1945323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344160" y="2306002"/>
            <a:ext cx="1554480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операции, события плана, пользователи, журнал</a:t>
            </a:r>
            <a:endParaRPr lang="en-US" sz="1300" dirty="0"/>
          </a:p>
        </p:txBody>
      </p:sp>
      <p:pic>
        <p:nvPicPr>
          <p:cNvPr id="14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35800" y="2482534"/>
            <a:ext cx="292100" cy="1778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334250" y="1849757"/>
            <a:ext cx="1866900" cy="1443355"/>
          </a:xfrm>
          <a:prstGeom prst="roundRect">
            <a:avLst>
              <a:gd name="adj" fmla="val 8359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515860" y="2056764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515860" y="2417446"/>
            <a:ext cx="1554480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Монте-Карло, сценарии, меры, план-факт</a:t>
            </a:r>
            <a:endParaRPr lang="en-US" sz="1300" dirty="0"/>
          </a:p>
        </p:txBody>
      </p:sp>
      <p:pic>
        <p:nvPicPr>
          <p:cNvPr id="18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07500" y="2482534"/>
            <a:ext cx="292100" cy="1778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499600" y="1853564"/>
            <a:ext cx="1879600" cy="1435735"/>
          </a:xfrm>
          <a:prstGeom prst="roundRect">
            <a:avLst>
              <a:gd name="adj" fmla="val 8846"/>
            </a:avLst>
          </a:prstGeom>
          <a:solidFill>
            <a:srgbClr val="0F2B20"/>
          </a:solidFill>
          <a:ln/>
        </p:spPr>
      </p:sp>
      <p:sp>
        <p:nvSpPr>
          <p:cNvPr id="20" name="Text 14"/>
          <p:cNvSpPr/>
          <p:nvPr/>
        </p:nvSpPr>
        <p:spPr>
          <a:xfrm>
            <a:off x="9677400" y="2056764"/>
            <a:ext cx="15748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C8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9677400" y="2417446"/>
            <a:ext cx="1574800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 и веб-страница: график и предупреждения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12800" y="3827146"/>
            <a:ext cx="10566400" cy="835660"/>
          </a:xfrm>
          <a:prstGeom prst="roundRect">
            <a:avLst>
              <a:gd name="adj" fmla="val 15198"/>
            </a:avLst>
          </a:prstGeom>
          <a:solidFill>
            <a:srgbClr val="E4EBDD"/>
          </a:solidFill>
          <a:ln/>
        </p:spPr>
      </p:sp>
      <p:pic>
        <p:nvPicPr>
          <p:cNvPr id="23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1400" y="4105275"/>
            <a:ext cx="279400" cy="279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73200" y="4004946"/>
            <a:ext cx="91567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Безопасность:</a:t>
            </a: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вход по логину и паролю, пароли хранятся хэшем, в журнал пишутся действия, а не суммы и назначения платежей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12800" y="6238239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уходят деньги · Хакатон Осень 2026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4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2B2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Задачи со звёздочкой и планы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474471"/>
            <a:ext cx="5415598" cy="2872740"/>
          </a:xfrm>
          <a:prstGeom prst="roundRect">
            <a:avLst>
              <a:gd name="adj" fmla="val 5084"/>
            </a:avLst>
          </a:prstGeom>
          <a:solidFill>
            <a:srgbClr val="FBFBF8"/>
          </a:solidFill>
          <a:ln w="12700">
            <a:solidFill>
              <a:srgbClr val="DFE3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2360" y="1732282"/>
            <a:ext cx="49946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37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РЕАЛИЗОВАНО</a:t>
            </a:r>
            <a:endParaRPr lang="en-US" sz="1300" dirty="0"/>
          </a:p>
        </p:txBody>
      </p:sp>
      <p:pic>
        <p:nvPicPr>
          <p:cNvPr id="5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2360" y="2090421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7960" y="2090421"/>
            <a:ext cx="431673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Договоры, счета, налоги, кредиты: файлом и вручную</a:t>
            </a:r>
            <a:endParaRPr lang="en-US" sz="1400" dirty="0"/>
          </a:p>
        </p:txBody>
      </p:sp>
      <p:pic>
        <p:nvPicPr>
          <p:cNvPr id="7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2360" y="26797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57960" y="2679700"/>
            <a:ext cx="431673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План-факт, отметка опоздавших платежей, пересчёт</a:t>
            </a:r>
            <a:endParaRPr lang="en-US" sz="1400" dirty="0"/>
          </a:p>
        </p:txBody>
      </p:sp>
      <p:pic>
        <p:nvPicPr>
          <p:cNvPr id="9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2360" y="326898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57960" y="3268982"/>
            <a:ext cx="43167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«что если»: клиент, выручка, расходы</a:t>
            </a:r>
            <a:endParaRPr lang="en-US" sz="1400" dirty="0"/>
          </a:p>
        </p:txBody>
      </p:sp>
      <p:pic>
        <p:nvPicPr>
          <p:cNvPr id="11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2360" y="3627121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57960" y="3627121"/>
            <a:ext cx="431673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Меры против разрыва, проверенные той же симуляцией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6444298" y="1468121"/>
            <a:ext cx="4934903" cy="2885440"/>
          </a:xfrm>
          <a:prstGeom prst="roundRect">
            <a:avLst>
              <a:gd name="adj" fmla="val 5282"/>
            </a:avLst>
          </a:prstGeom>
          <a:solidFill>
            <a:srgbClr val="0F2B20"/>
          </a:solidFill>
          <a:ln/>
        </p:spPr>
      </p:sp>
      <p:sp>
        <p:nvSpPr>
          <p:cNvPr id="14" name="Text 8"/>
          <p:cNvSpPr/>
          <p:nvPr/>
        </p:nvSpPr>
        <p:spPr>
          <a:xfrm>
            <a:off x="6723697" y="1722121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C8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723697" y="2080261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Прямые API: банк, 1С, ЭДО, кассы, маркетплейсы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723697" y="2438400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моделей и точность по отраслям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723697" y="2796539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прогноза без полного пересчёта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723697" y="3154682"/>
            <a:ext cx="450738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3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Автотесты ключевой логики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12800" y="4607561"/>
            <a:ext cx="4995863" cy="548640"/>
          </a:xfrm>
          <a:prstGeom prst="roundRect">
            <a:avLst>
              <a:gd name="adj" fmla="val 50000"/>
            </a:avLst>
          </a:prstGeom>
          <a:solidFill>
            <a:srgbClr val="C8F2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Готовы ответить на вопросы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Куда уходят деньги — сервис прогноза кассовых разрывов">
  <a:themeElements>
    <a:clrScheme name="Куда уходят деньги — сервис прогноза кассовых разрывов">
      <a:dk1>
        <a:srgbClr val="0F2B20"/>
      </a:dk1>
      <a:lt1>
        <a:srgbClr val="F3F4EF"/>
      </a:lt1>
      <a:dk2>
        <a:srgbClr val="485D54"/>
      </a:dk2>
      <a:lt2>
        <a:srgbClr val="DCE0DA"/>
      </a:lt2>
      <a:accent1>
        <a:srgbClr val="C8F23A"/>
      </a:accent1>
      <a:accent2>
        <a:srgbClr val="137A35"/>
      </a:accent2>
      <a:accent3>
        <a:srgbClr val="54645A"/>
      </a:accent3>
      <a:accent4>
        <a:srgbClr val="B7CBBF"/>
      </a:accent4>
      <a:accent5>
        <a:srgbClr val="D9E6DE"/>
      </a:accent5>
      <a:accent6>
        <a:srgbClr val="9AA0A6"/>
      </a:accent6>
      <a:hlink>
        <a:srgbClr val="0563C1"/>
      </a:hlink>
      <a:folHlink>
        <a:srgbClr val="954F72"/>
      </a:folHlink>
    </a:clrScheme>
    <a:fontScheme name="Куда уходят деньги — сервис прогноза кассовых разрывов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Куда уходят деньги — сервис прогноза кассовых разрывов</dc:title>
  <dc:subject/>
  <dc:creator/>
  <cp:lastModifiedBy/>
  <cp:revision>1</cp:revision>
  <dcterms:created xsi:type="dcterms:W3CDTF">2026-10-25T07:37:11Z</dcterms:created>
  <dcterms:modified xsi:type="dcterms:W3CDTF">2026-10-25T07:37:11Z</dcterms:modified>
</cp:coreProperties>
</file>